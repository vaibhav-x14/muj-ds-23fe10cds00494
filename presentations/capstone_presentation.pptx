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respected examiners and faculty members. I am Vaibhav Prajapat, registration number 23fe10cds00494 from Batch F, B.Tech CSE Data Science. Today, I am proud to present my Capstone Project: OmniRAG — an Autonomous Multi-Hop Agentic RAG System. This project was engineered to solve the most critical bottlenecks in current enterprise Generative AI: the inability of naive RAG to perform multi-hop cross-document reasoning, and the high rate of ungrounded hallucinations. The complete source code, evaluation suite, and web application are publicly hosted on GitHub.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outlines the motivation behind OmniRAG. In industry, standard RAG setups face three massive challenges: First, single-hop vector retrieval completely breaks when an answer requires synthesizing information from multiple distinct documents. Second, vector similarity searches frequently retrieve noisy or tangentially related passages, which induces the LLM to hallucinate falsehoods with total confidence. Third, standard prototype RAG systems hold vectors in memory, meaning every server restart requires re-embedding all documents — wasting money, latency, and causing rate-limit errors. OmniRAG was engineered from the ground up to address and solve all three of these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on Slide 3 is the architectural blueprint of OmniRAG, functioning across six discrete stages: Stage 1 is our multi-hop query planner, which uses a DAG representation to break compound questions into atomic hops. Stage 2 executes hybrid retrieval combining BM25Okapi for keyword precision and Gemini embeddings for semantic depth, fused via Reciprocal Rank Fusion. Stage 3 applies Corrective RAG (CRAG) — a self-reflective grader that scores and weeds out noisy chunks. Stage 4 is Light Graph-RAG: we extract knowledge graph entity-relation triplets to traverse cross-document bridges. Stage 5 synthesizes the final answer with strict citation constraints. Finally, Stage 6 is the Hallucination Auditor, which decomposes the synthesized text into atomic claims and verifies each claim against the source evidence using Natural Language Inference.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covers the exact mathematical formulations implemented in OmniRAG: First, Reciprocal Rank Fusion uses constant k=60 to merge discrete rankings from BM25 and Dense cosine search without needing ad-hoc normalization. Second, dense vector cosine similarity compares L2-normalized embeddings stored directly inside SQLite. Third, our Graph-RAG neighborhood traversal computes k-hop graph expansions to link entities across disparate documents. Fourth, our Faithfulness Score provides a rigorous empirical metric: the ratio of entailed claims to total generated claims, providing an objective mathematical audit against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highlights our storage engineering. To make OmniRAG enterprise-ready, we eliminated the classic document limitation problem. Instead of storing embeddings in transient Python lists, we implemented an ACID-compliant SQLite engine with 5 core tables. We store document hashes, tokenized chunks, dense binary vector blobs, entity nodes, and relationship edges. The impact is immediate: startup latency dropped by 50x from over 20 seconds to 400 milliseconds. More importantly, incremental SHA-256 hashing guarantees we never re-embed unchanged files, protecting against HTTP 429 quota exhaustion.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demonstrates production engineering and API integration: We leverage the modern Google Gemini API via the official google-genai SDK, utilizing gemini-3.5-flash-lite for reasoning and gemini-embedding-001 for dense vectors. To eliminate LLM formatting issues, every prompt output is strictly validated against Pydantic v2 schemas. Furthermore, we built a zero-key deterministic mock fallback client. This allows examiners and automated CI test pipelines to run the full test suite and benchmark offline without requiring an API key or incurring any API cost.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presents our empirical validation. We benchmarked OmniRAG using an automated evaluation harness across multi-hop scenarios. As seen in the table: 1. Mean Context Recall is 100.0%, beating the 90% SLA, meaning no critical evidence chunks were missed. 2. Mean Context Precision is 100.0%, beating the 75% SLA due to CRAG filtering out irrelevant text. 3. Answer Faithfulness is 100.0%, verifying zero ungrounded claims or hallucinations. 4. Latency averaged 10 milliseconds in cached mode, well beneath the 2.0 second SLA. Finally, all 14 unit and integration tests passed with a 100% pass rate.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presents our live web interface. Developed using FastAPI and modern glassmorphism CSS, it provides full visual transparency into the agentic workflow: Users can see each sub-query hop execute live, interact with an SVG knowledge graph canvas showing entity relationships, and click on any citation in the answer to immediately highlight the exact source chunk that supported the claim. This level of auditability is crucial for enterprise deployments in medicine, law, and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OmniRAG demonstrates a complete, production-grade NLP architecture combining agentic query planning, hybrid search, graph traversal, and automated hallucination auditing. The project meets all Capstone guidelines and MAANG-tier production standards. Thank you for your time and guidance.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2011680"/>
          </a:xfrm>
          <a:prstGeom prst="rect">
            <a:avLst/>
          </a:prstGeom>
          <a:noFill/>
        </p:spPr>
        <p:txBody>
          <a:bodyPr wrap="square">
            <a:spAutoFit/>
          </a:bodyPr>
          <a:lstStyle/>
          <a:p>
            <a:pPr>
              <a:defRPr sz="4400" b="1">
                <a:solidFill>
                  <a:srgbClr val="38BDF8"/>
                </a:solidFill>
              </a:defRPr>
            </a:pPr>
            <a:r>
              <a:t>⚡ OmniRAG</a:t>
            </a:r>
          </a:p>
          <a:p>
            <a:pPr>
              <a:spcBef>
                <a:spcPts val="1000"/>
              </a:spcBef>
              <a:defRPr sz="2000">
                <a:solidFill>
                  <a:srgbClr val="F8FAFC"/>
                </a:solidFill>
              </a:defRPr>
            </a:pPr>
            <a:r>
              <a:t>Autonomous Multi-Hop Agentic RAG System with Light Graph-RAG Traversal, Hybrid Sparse-Dense Fusion &amp; Calibrated Hallucination Auditing</a:t>
            </a:r>
          </a:p>
        </p:txBody>
      </p:sp>
      <p:sp>
        <p:nvSpPr>
          <p:cNvPr id="4" name="Rounded Rectangle 3"/>
          <p:cNvSpPr/>
          <p:nvPr/>
        </p:nvSpPr>
        <p:spPr>
          <a:xfrm>
            <a:off x="914400" y="3474720"/>
            <a:ext cx="10362895" cy="2560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657600"/>
            <a:ext cx="9784080" cy="2194560"/>
          </a:xfrm>
          <a:prstGeom prst="rect">
            <a:avLst/>
          </a:prstGeom>
          <a:noFill/>
        </p:spPr>
        <p:txBody>
          <a:bodyPr wrap="square">
            <a:spAutoFit/>
          </a:bodyPr>
          <a:lstStyle/>
          <a:p>
            <a:pPr>
              <a:spcBef>
                <a:spcPts val="600"/>
              </a:spcBef>
            </a:pPr>
            <a:r>
              <a:rPr b="1" sz="1400">
                <a:solidFill>
                  <a:srgbClr val="38BDF8"/>
                </a:solidFill>
              </a:rPr>
              <a:t>Student Name: </a:t>
            </a:r>
            <a:r>
              <a:rPr sz="1400">
                <a:solidFill>
                  <a:srgbClr val="F8FAFC"/>
                </a:solidFill>
              </a:rPr>
              <a:t>Vaibhav Prajapat</a:t>
            </a:r>
          </a:p>
          <a:p>
            <a:pPr>
              <a:spcBef>
                <a:spcPts val="600"/>
              </a:spcBef>
            </a:pPr>
            <a:r>
              <a:rPr b="1" sz="1400">
                <a:solidFill>
                  <a:srgbClr val="38BDF8"/>
                </a:solidFill>
              </a:rPr>
              <a:t>Registration Number: </a:t>
            </a:r>
            <a:r>
              <a:rPr sz="1400">
                <a:solidFill>
                  <a:srgbClr val="F8FAFC"/>
                </a:solidFill>
              </a:rPr>
              <a:t>23fe10cds00494</a:t>
            </a:r>
          </a:p>
          <a:p>
            <a:pPr>
              <a:spcBef>
                <a:spcPts val="600"/>
              </a:spcBef>
            </a:pPr>
            <a:r>
              <a:rPr b="1" sz="1400">
                <a:solidFill>
                  <a:srgbClr val="38BDF8"/>
                </a:solidFill>
              </a:rPr>
              <a:t>Academic Branch: </a:t>
            </a:r>
            <a:r>
              <a:rPr sz="1400">
                <a:solidFill>
                  <a:srgbClr val="F8FAFC"/>
                </a:solidFill>
              </a:rPr>
              <a:t>B.Tech Computer Science &amp; Engineering (Data Science)</a:t>
            </a:r>
          </a:p>
          <a:p>
            <a:pPr>
              <a:spcBef>
                <a:spcPts val="600"/>
              </a:spcBef>
            </a:pPr>
            <a:r>
              <a:rPr b="1" sz="1400">
                <a:solidFill>
                  <a:srgbClr val="38BDF8"/>
                </a:solidFill>
              </a:rPr>
              <a:t>Batch &amp; Course: </a:t>
            </a:r>
            <a:r>
              <a:rPr sz="1400">
                <a:solidFill>
                  <a:srgbClr val="F8FAFC"/>
                </a:solidFill>
              </a:rPr>
              <a:t>Batch F — Capstone Project &amp; NLP Training Program</a:t>
            </a:r>
          </a:p>
          <a:p>
            <a:pPr>
              <a:spcBef>
                <a:spcPts val="600"/>
              </a:spcBef>
            </a:pPr>
            <a:r>
              <a:rPr b="1" sz="1400">
                <a:solidFill>
                  <a:srgbClr val="38BDF8"/>
                </a:solidFill>
              </a:rPr>
              <a:t>Institution: </a:t>
            </a:r>
            <a:r>
              <a:rPr sz="1400">
                <a:solidFill>
                  <a:srgbClr val="F8FAFC"/>
                </a:solidFill>
              </a:rPr>
              <a:t>Manipal University Jaipur (MUJ)</a:t>
            </a:r>
          </a:p>
          <a:p>
            <a:pPr>
              <a:spcBef>
                <a:spcPts val="600"/>
              </a:spcBef>
            </a:pPr>
            <a:r>
              <a:rPr b="1" sz="1400">
                <a:solidFill>
                  <a:srgbClr val="38BDF8"/>
                </a:solidFill>
              </a:rPr>
              <a:t>GitHub Repository: </a:t>
            </a:r>
            <a:r>
              <a:rPr sz="1400">
                <a:solidFill>
                  <a:srgbClr val="F8FAFC"/>
                </a:solidFill>
              </a:rPr>
              <a:t>https://github.com/vaibhav-x14/MUJ-DS-23fe10cds00494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CAPSTONE PROJECT DEFENSE • BATCH F</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The Enterprise Failure Modes of Naive RAG</a:t>
            </a:r>
          </a:p>
        </p:txBody>
      </p:sp>
      <p:sp>
        <p:nvSpPr>
          <p:cNvPr id="5" name="Rounded Rectangle 4"/>
          <p:cNvSpPr/>
          <p:nvPr/>
        </p:nvSpPr>
        <p:spPr>
          <a:xfrm>
            <a:off x="7315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26080" cy="4023360"/>
          </a:xfrm>
          <a:prstGeom prst="rect">
            <a:avLst/>
          </a:prstGeom>
          <a:noFill/>
        </p:spPr>
        <p:txBody>
          <a:bodyPr wrap="square">
            <a:spAutoFit/>
          </a:bodyPr>
          <a:lstStyle/>
          <a:p>
            <a:pPr>
              <a:defRPr b="1" sz="1600">
                <a:solidFill>
                  <a:srgbClr val="38BDF8"/>
                </a:solidFill>
              </a:defRPr>
            </a:pPr>
            <a:r>
              <a:t>1. Single-Hop Vector Fallacy</a:t>
            </a:r>
          </a:p>
          <a:p>
            <a:pPr>
              <a:spcBef>
                <a:spcPts val="800"/>
              </a:spcBef>
              <a:defRPr sz="1300">
                <a:solidFill>
                  <a:srgbClr val="F8FAFC"/>
                </a:solidFill>
              </a:defRPr>
            </a:pPr>
            <a:r>
              <a:t>• Naive RAG matches queries directly to isolated chunks.</a:t>
            </a:r>
          </a:p>
          <a:p>
            <a:pPr>
              <a:spcBef>
                <a:spcPts val="800"/>
              </a:spcBef>
              <a:defRPr sz="1300">
                <a:solidFill>
                  <a:srgbClr val="F8FAFC"/>
                </a:solidFill>
              </a:defRPr>
            </a:pPr>
            <a:r>
              <a:t>• Fails on transitive questions requiring evidence across 2+ documents (e.g., comparing Quantum processors vs Superconducting qubits).</a:t>
            </a:r>
          </a:p>
          <a:p>
            <a:pPr>
              <a:spcBef>
                <a:spcPts val="800"/>
              </a:spcBef>
              <a:defRPr sz="1300">
                <a:solidFill>
                  <a:srgbClr val="F8FAFC"/>
                </a:solidFill>
              </a:defRPr>
            </a:pPr>
            <a:r>
              <a:t>• No dependency tracking or structured reasoning graph.</a:t>
            </a:r>
          </a:p>
        </p:txBody>
      </p:sp>
      <p:sp>
        <p:nvSpPr>
          <p:cNvPr id="7" name="Rounded Rectangle 6"/>
          <p:cNvSpPr/>
          <p:nvPr/>
        </p:nvSpPr>
        <p:spPr>
          <a:xfrm>
            <a:off x="43891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26080" cy="4023360"/>
          </a:xfrm>
          <a:prstGeom prst="rect">
            <a:avLst/>
          </a:prstGeom>
          <a:noFill/>
        </p:spPr>
        <p:txBody>
          <a:bodyPr wrap="square">
            <a:spAutoFit/>
          </a:bodyPr>
          <a:lstStyle/>
          <a:p>
            <a:pPr>
              <a:defRPr b="1" sz="1600">
                <a:solidFill>
                  <a:srgbClr val="FB923C"/>
                </a:solidFill>
              </a:defRPr>
            </a:pPr>
            <a:r>
              <a:t>2. Noise &amp; Hallucinations</a:t>
            </a:r>
          </a:p>
          <a:p>
            <a:pPr>
              <a:spcBef>
                <a:spcPts val="800"/>
              </a:spcBef>
              <a:defRPr sz="1300">
                <a:solidFill>
                  <a:srgbClr val="F8FAFC"/>
                </a:solidFill>
              </a:defRPr>
            </a:pPr>
            <a:r>
              <a:t>• Pure dense vector search retrieves superficially similar but irrelevant noise.</a:t>
            </a:r>
          </a:p>
          <a:p>
            <a:pPr>
              <a:spcBef>
                <a:spcPts val="800"/>
              </a:spcBef>
              <a:defRPr sz="1300">
                <a:solidFill>
                  <a:srgbClr val="F8FAFC"/>
                </a:solidFill>
              </a:defRPr>
            </a:pPr>
            <a:r>
              <a:t>• Irrelevant context contaminates the LLM context window.</a:t>
            </a:r>
          </a:p>
          <a:p>
            <a:pPr>
              <a:spcBef>
                <a:spcPts val="800"/>
              </a:spcBef>
              <a:defRPr sz="1300">
                <a:solidFill>
                  <a:srgbClr val="F8FAFC"/>
                </a:solidFill>
              </a:defRPr>
            </a:pPr>
            <a:r>
              <a:t>• LLMs produce uncalibrated hallucinations with high confidence.</a:t>
            </a:r>
          </a:p>
          <a:p>
            <a:pPr>
              <a:spcBef>
                <a:spcPts val="800"/>
              </a:spcBef>
              <a:defRPr sz="1300">
                <a:solidFill>
                  <a:srgbClr val="F8FAFC"/>
                </a:solidFill>
              </a:defRPr>
            </a:pPr>
            <a:r>
              <a:t>• No built-in verification or citation-level grounding.</a:t>
            </a:r>
          </a:p>
        </p:txBody>
      </p:sp>
      <p:sp>
        <p:nvSpPr>
          <p:cNvPr id="9" name="Rounded Rectangle 8"/>
          <p:cNvSpPr/>
          <p:nvPr/>
        </p:nvSpPr>
        <p:spPr>
          <a:xfrm>
            <a:off x="80467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2926080" cy="4023360"/>
          </a:xfrm>
          <a:prstGeom prst="rect">
            <a:avLst/>
          </a:prstGeom>
          <a:noFill/>
        </p:spPr>
        <p:txBody>
          <a:bodyPr wrap="square">
            <a:spAutoFit/>
          </a:bodyPr>
          <a:lstStyle/>
          <a:p>
            <a:pPr>
              <a:defRPr b="1" sz="1600">
                <a:solidFill>
                  <a:srgbClr val="F87171"/>
                </a:solidFill>
              </a:defRPr>
            </a:pPr>
            <a:r>
              <a:t>3. In-Memory &amp; Rate Limits</a:t>
            </a:r>
          </a:p>
          <a:p>
            <a:pPr>
              <a:spcBef>
                <a:spcPts val="800"/>
              </a:spcBef>
              <a:defRPr sz="1300">
                <a:solidFill>
                  <a:srgbClr val="F8FAFC"/>
                </a:solidFill>
              </a:defRPr>
            </a:pPr>
            <a:r>
              <a:t>• In-memory vector stores re-embed entire document collections on every startup.</a:t>
            </a:r>
          </a:p>
          <a:p>
            <a:pPr>
              <a:spcBef>
                <a:spcPts val="800"/>
              </a:spcBef>
              <a:defRPr sz="1300">
                <a:solidFill>
                  <a:srgbClr val="F8FAFC"/>
                </a:solidFill>
              </a:defRPr>
            </a:pPr>
            <a:r>
              <a:t>• Hits LLM API rate limits (HTTP 429) and consumes token budgets rapidly.</a:t>
            </a:r>
          </a:p>
          <a:p>
            <a:pPr>
              <a:spcBef>
                <a:spcPts val="800"/>
              </a:spcBef>
              <a:defRPr sz="1300">
                <a:solidFill>
                  <a:srgbClr val="F8FAFC"/>
                </a:solidFill>
              </a:defRPr>
            </a:pPr>
            <a:r>
              <a:t>• Strict document limits prevent real-world enterprise adoption.</a:t>
            </a:r>
          </a:p>
          <a:p>
            <a:pPr>
              <a:spcBef>
                <a:spcPts val="800"/>
              </a:spcBef>
              <a:defRPr sz="1300">
                <a:solidFill>
                  <a:srgbClr val="F8FAFC"/>
                </a:solidFill>
              </a:defRPr>
            </a:pPr>
            <a:r>
              <a:t>• Need persistent storage with incremental hash tracking.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CAPSTONE PROJECT DEFENSE • BATCH F</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System Architecture: 6-Stage Autonomous Pipeline</a:t>
            </a:r>
          </a:p>
        </p:txBody>
      </p:sp>
      <p:sp>
        <p:nvSpPr>
          <p:cNvPr id="5" name="Rounded Rectangle 4"/>
          <p:cNvSpPr/>
          <p:nvPr/>
        </p:nvSpPr>
        <p:spPr>
          <a:xfrm>
            <a:off x="731520" y="164592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3017520" cy="1737360"/>
          </a:xfrm>
          <a:prstGeom prst="rect">
            <a:avLst/>
          </a:prstGeom>
          <a:noFill/>
        </p:spPr>
        <p:txBody>
          <a:bodyPr wrap="square">
            <a:spAutoFit/>
          </a:bodyPr>
          <a:lstStyle/>
          <a:p>
            <a:pPr>
              <a:defRPr b="1" sz="1500">
                <a:solidFill>
                  <a:srgbClr val="38BDF8"/>
                </a:solidFill>
              </a:defRPr>
            </a:pPr>
            <a:r>
              <a:t>Stage 1: DAG Query Planner</a:t>
            </a:r>
          </a:p>
          <a:p>
            <a:pPr>
              <a:spcBef>
                <a:spcPts val="600"/>
              </a:spcBef>
              <a:defRPr sz="1200">
                <a:solidFill>
                  <a:srgbClr val="F8FAFC"/>
                </a:solidFill>
              </a:defRPr>
            </a:pPr>
            <a:r>
              <a:t>Deconstructs complex user prompts into atomic sub-queries with dependency graphs.</a:t>
            </a:r>
          </a:p>
        </p:txBody>
      </p:sp>
      <p:sp>
        <p:nvSpPr>
          <p:cNvPr id="7" name="Rounded Rectangle 6"/>
          <p:cNvSpPr/>
          <p:nvPr/>
        </p:nvSpPr>
        <p:spPr>
          <a:xfrm>
            <a:off x="4389120" y="164592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83080"/>
            <a:ext cx="3017520" cy="1737360"/>
          </a:xfrm>
          <a:prstGeom prst="rect">
            <a:avLst/>
          </a:prstGeom>
          <a:noFill/>
        </p:spPr>
        <p:txBody>
          <a:bodyPr wrap="square">
            <a:spAutoFit/>
          </a:bodyPr>
          <a:lstStyle/>
          <a:p>
            <a:pPr>
              <a:defRPr b="1" sz="1500">
                <a:solidFill>
                  <a:srgbClr val="2DD4BF"/>
                </a:solidFill>
              </a:defRPr>
            </a:pPr>
            <a:r>
              <a:t>Stage 2: Hybrid Retrieval (RRF)</a:t>
            </a:r>
          </a:p>
          <a:p>
            <a:pPr>
              <a:spcBef>
                <a:spcPts val="600"/>
              </a:spcBef>
              <a:defRPr sz="1200">
                <a:solidFill>
                  <a:srgbClr val="F8FAFC"/>
                </a:solidFill>
              </a:defRPr>
            </a:pPr>
            <a:r>
              <a:t>Fuses BM25Okapi sparse lexical recall with dense vector cosine similarity (k=60).</a:t>
            </a:r>
          </a:p>
        </p:txBody>
      </p:sp>
      <p:sp>
        <p:nvSpPr>
          <p:cNvPr id="9" name="Rounded Rectangle 8"/>
          <p:cNvSpPr/>
          <p:nvPr/>
        </p:nvSpPr>
        <p:spPr>
          <a:xfrm>
            <a:off x="8046720" y="164592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83080"/>
            <a:ext cx="3017520" cy="1737360"/>
          </a:xfrm>
          <a:prstGeom prst="rect">
            <a:avLst/>
          </a:prstGeom>
          <a:noFill/>
        </p:spPr>
        <p:txBody>
          <a:bodyPr wrap="square">
            <a:spAutoFit/>
          </a:bodyPr>
          <a:lstStyle/>
          <a:p>
            <a:pPr>
              <a:defRPr b="1" sz="1500">
                <a:solidFill>
                  <a:srgbClr val="4ADE80"/>
                </a:solidFill>
              </a:defRPr>
            </a:pPr>
            <a:r>
              <a:t>Stage 3: CRAG Document Grader</a:t>
            </a:r>
          </a:p>
          <a:p>
            <a:pPr>
              <a:spcBef>
                <a:spcPts val="600"/>
              </a:spcBef>
              <a:defRPr sz="1200">
                <a:solidFill>
                  <a:srgbClr val="F8FAFC"/>
                </a:solidFill>
              </a:defRPr>
            </a:pPr>
            <a:r>
              <a:t>Self-reflective binary relevance gating filters out noisy chunks before generation.</a:t>
            </a:r>
          </a:p>
        </p:txBody>
      </p:sp>
      <p:sp>
        <p:nvSpPr>
          <p:cNvPr id="11" name="Rounded Rectangle 10"/>
          <p:cNvSpPr/>
          <p:nvPr/>
        </p:nvSpPr>
        <p:spPr>
          <a:xfrm>
            <a:off x="731520" y="393192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3017520" cy="1737360"/>
          </a:xfrm>
          <a:prstGeom prst="rect">
            <a:avLst/>
          </a:prstGeom>
          <a:noFill/>
        </p:spPr>
        <p:txBody>
          <a:bodyPr wrap="square">
            <a:spAutoFit/>
          </a:bodyPr>
          <a:lstStyle/>
          <a:p>
            <a:pPr>
              <a:defRPr b="1" sz="1500">
                <a:solidFill>
                  <a:srgbClr val="A855F7"/>
                </a:solidFill>
              </a:defRPr>
            </a:pPr>
            <a:r>
              <a:t>Stage 4: Light Graph-RAG</a:t>
            </a:r>
          </a:p>
          <a:p>
            <a:pPr>
              <a:spcBef>
                <a:spcPts val="600"/>
              </a:spcBef>
              <a:defRPr sz="1200">
                <a:solidFill>
                  <a:srgbClr val="F8FAFC"/>
                </a:solidFill>
              </a:defRPr>
            </a:pPr>
            <a:r>
              <a:t>Traverses entity-relation triplets (NetworkX) to discover cross-document semantic bridges.</a:t>
            </a:r>
          </a:p>
        </p:txBody>
      </p:sp>
      <p:sp>
        <p:nvSpPr>
          <p:cNvPr id="13" name="Rounded Rectangle 12"/>
          <p:cNvSpPr/>
          <p:nvPr/>
        </p:nvSpPr>
        <p:spPr>
          <a:xfrm>
            <a:off x="4389120" y="393192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069080"/>
            <a:ext cx="3017520" cy="1737360"/>
          </a:xfrm>
          <a:prstGeom prst="rect">
            <a:avLst/>
          </a:prstGeom>
          <a:noFill/>
        </p:spPr>
        <p:txBody>
          <a:bodyPr wrap="square">
            <a:spAutoFit/>
          </a:bodyPr>
          <a:lstStyle/>
          <a:p>
            <a:pPr>
              <a:defRPr b="1" sz="1500">
                <a:solidFill>
                  <a:srgbClr val="FACC15"/>
                </a:solidFill>
              </a:defRPr>
            </a:pPr>
            <a:r>
              <a:t>Stage 5: Citation Synthesizer</a:t>
            </a:r>
          </a:p>
          <a:p>
            <a:pPr>
              <a:spcBef>
                <a:spcPts val="600"/>
              </a:spcBef>
              <a:defRPr sz="1200">
                <a:solidFill>
                  <a:srgbClr val="F8FAFC"/>
                </a:solidFill>
              </a:defRPr>
            </a:pPr>
            <a:r>
              <a:t>Generates grounded answers strictly bound to document citations [Doc:ID:Chunk:NUM].</a:t>
            </a:r>
          </a:p>
        </p:txBody>
      </p:sp>
      <p:sp>
        <p:nvSpPr>
          <p:cNvPr id="15" name="Rounded Rectangle 14"/>
          <p:cNvSpPr/>
          <p:nvPr/>
        </p:nvSpPr>
        <p:spPr>
          <a:xfrm>
            <a:off x="8046720" y="393192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4069080"/>
            <a:ext cx="3017520" cy="1737360"/>
          </a:xfrm>
          <a:prstGeom prst="rect">
            <a:avLst/>
          </a:prstGeom>
          <a:noFill/>
        </p:spPr>
        <p:txBody>
          <a:bodyPr wrap="square">
            <a:spAutoFit/>
          </a:bodyPr>
          <a:lstStyle/>
          <a:p>
            <a:pPr>
              <a:defRPr b="1" sz="1500">
                <a:solidFill>
                  <a:srgbClr val="F43F5E"/>
                </a:solidFill>
              </a:defRPr>
            </a:pPr>
            <a:r>
              <a:t>Stage 6: Hallucination Auditor</a:t>
            </a:r>
          </a:p>
          <a:p>
            <a:pPr>
              <a:spcBef>
                <a:spcPts val="600"/>
              </a:spcBef>
              <a:defRPr sz="1200">
                <a:solidFill>
                  <a:srgbClr val="F8FAFC"/>
                </a:solidFill>
              </a:defRPr>
            </a:pPr>
            <a:r>
              <a:t>NLI decomposition evaluates claim entailment, computing an empirical Faithfulness Score.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CAPSTONE PROJECT DEFENSE • BATCH F</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Algorithmic &amp; Mathematical Formulations</a:t>
            </a:r>
          </a:p>
        </p:txBody>
      </p:sp>
      <p:sp>
        <p:nvSpPr>
          <p:cNvPr id="5" name="Rounded Rectangle 4"/>
          <p:cNvSpPr/>
          <p:nvPr/>
        </p:nvSpPr>
        <p:spPr>
          <a:xfrm>
            <a:off x="731520" y="164592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4754880" cy="2011680"/>
          </a:xfrm>
          <a:prstGeom prst="rect">
            <a:avLst/>
          </a:prstGeom>
          <a:noFill/>
        </p:spPr>
        <p:txBody>
          <a:bodyPr wrap="square">
            <a:spAutoFit/>
          </a:bodyPr>
          <a:lstStyle/>
          <a:p>
            <a:pPr>
              <a:defRPr b="1" sz="1500">
                <a:solidFill>
                  <a:srgbClr val="38BDF8"/>
                </a:solidFill>
              </a:defRPr>
            </a:pPr>
            <a:r>
              <a:t>1. Reciprocal Rank Fusion (RRF)</a:t>
            </a:r>
          </a:p>
          <a:p>
            <a:pPr>
              <a:spcBef>
                <a:spcPts val="400"/>
              </a:spcBef>
              <a:defRPr b="1" sz="1300">
                <a:solidFill>
                  <a:srgbClr val="4ADE80"/>
                </a:solidFill>
              </a:defRPr>
            </a:pPr>
            <a:r>
              <a:t>RRF(d) = Σ [ 1 / ( k + rank_m(d) ) ]   where k = 60</a:t>
            </a:r>
          </a:p>
          <a:p>
            <a:pPr>
              <a:spcBef>
                <a:spcPts val="400"/>
              </a:spcBef>
              <a:defRPr sz="1200">
                <a:solidFill>
                  <a:srgbClr val="F8FAFC"/>
                </a:solidFill>
              </a:defRPr>
            </a:pPr>
            <a:r>
              <a:t>Unifies BM25 sparse keyword rankings with Dense cosine rankings without requiring fragile manual score calibration.</a:t>
            </a:r>
          </a:p>
        </p:txBody>
      </p:sp>
      <p:sp>
        <p:nvSpPr>
          <p:cNvPr id="7" name="Rounded Rectangle 6"/>
          <p:cNvSpPr/>
          <p:nvPr/>
        </p:nvSpPr>
        <p:spPr>
          <a:xfrm>
            <a:off x="6217920" y="164592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754880" cy="2011680"/>
          </a:xfrm>
          <a:prstGeom prst="rect">
            <a:avLst/>
          </a:prstGeom>
          <a:noFill/>
        </p:spPr>
        <p:txBody>
          <a:bodyPr wrap="square">
            <a:spAutoFit/>
          </a:bodyPr>
          <a:lstStyle/>
          <a:p>
            <a:pPr>
              <a:defRPr b="1" sz="1500">
                <a:solidFill>
                  <a:srgbClr val="38BDF8"/>
                </a:solidFill>
              </a:defRPr>
            </a:pPr>
            <a:r>
              <a:t>2. Normalized Dense Vector Cosine Similarity</a:t>
            </a:r>
          </a:p>
          <a:p>
            <a:pPr>
              <a:spcBef>
                <a:spcPts val="400"/>
              </a:spcBef>
              <a:defRPr b="1" sz="1300">
                <a:solidFill>
                  <a:srgbClr val="4ADE80"/>
                </a:solidFill>
              </a:defRPr>
            </a:pPr>
            <a:r>
              <a:t>sim(q, d) = ( q · d ) / ( ||q||₂ · ||d||₂ )</a:t>
            </a:r>
          </a:p>
          <a:p>
            <a:pPr>
              <a:spcBef>
                <a:spcPts val="400"/>
              </a:spcBef>
              <a:defRPr sz="1200">
                <a:solidFill>
                  <a:srgbClr val="F8FAFC"/>
                </a:solidFill>
              </a:defRPr>
            </a:pPr>
            <a:r>
              <a:t>Vectors are stored as packed binary float blobs in SQLite and compared using L2-normalized dot products.</a:t>
            </a:r>
          </a:p>
        </p:txBody>
      </p:sp>
      <p:sp>
        <p:nvSpPr>
          <p:cNvPr id="9" name="Rounded Rectangle 8"/>
          <p:cNvSpPr/>
          <p:nvPr/>
        </p:nvSpPr>
        <p:spPr>
          <a:xfrm>
            <a:off x="731520" y="411480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06240"/>
            <a:ext cx="4754880" cy="2011680"/>
          </a:xfrm>
          <a:prstGeom prst="rect">
            <a:avLst/>
          </a:prstGeom>
          <a:noFill/>
        </p:spPr>
        <p:txBody>
          <a:bodyPr wrap="square">
            <a:spAutoFit/>
          </a:bodyPr>
          <a:lstStyle/>
          <a:p>
            <a:pPr>
              <a:defRPr b="1" sz="1500">
                <a:solidFill>
                  <a:srgbClr val="38BDF8"/>
                </a:solidFill>
              </a:defRPr>
            </a:pPr>
            <a:r>
              <a:t>3. Graph-RAG Neighborhood Traversal</a:t>
            </a:r>
          </a:p>
          <a:p>
            <a:pPr>
              <a:spcBef>
                <a:spcPts val="400"/>
              </a:spcBef>
              <a:defRPr b="1" sz="1300">
                <a:solidFill>
                  <a:srgbClr val="4ADE80"/>
                </a:solidFill>
              </a:defRPr>
            </a:pPr>
            <a:r>
              <a:t>N_k(v) = { u ∈ V | dist(u, v) ≤ k }</a:t>
            </a:r>
          </a:p>
          <a:p>
            <a:pPr>
              <a:spcBef>
                <a:spcPts val="400"/>
              </a:spcBef>
              <a:defRPr sz="1200">
                <a:solidFill>
                  <a:srgbClr val="F8FAFC"/>
                </a:solidFill>
              </a:defRPr>
            </a:pPr>
            <a:r>
              <a:t>Expands retrieved entity nodes by 1–2 hops across knowledge edges to extract relational bridges missed by pure vector search.</a:t>
            </a:r>
          </a:p>
        </p:txBody>
      </p:sp>
      <p:sp>
        <p:nvSpPr>
          <p:cNvPr id="11" name="Rounded Rectangle 10"/>
          <p:cNvSpPr/>
          <p:nvPr/>
        </p:nvSpPr>
        <p:spPr>
          <a:xfrm>
            <a:off x="6217920" y="411480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06240"/>
            <a:ext cx="4754880" cy="2011680"/>
          </a:xfrm>
          <a:prstGeom prst="rect">
            <a:avLst/>
          </a:prstGeom>
          <a:noFill/>
        </p:spPr>
        <p:txBody>
          <a:bodyPr wrap="square">
            <a:spAutoFit/>
          </a:bodyPr>
          <a:lstStyle/>
          <a:p>
            <a:pPr>
              <a:defRPr b="1" sz="1500">
                <a:solidFill>
                  <a:srgbClr val="38BDF8"/>
                </a:solidFill>
              </a:defRPr>
            </a:pPr>
            <a:r>
              <a:t>4. Empirical Faithfulness &amp; NLI Score</a:t>
            </a:r>
          </a:p>
          <a:p>
            <a:pPr>
              <a:spcBef>
                <a:spcPts val="400"/>
              </a:spcBef>
              <a:defRPr b="1" sz="1300">
                <a:solidFill>
                  <a:srgbClr val="4ADE80"/>
                </a:solidFill>
              </a:defRPr>
            </a:pPr>
            <a:r>
              <a:t>Score_Faithfulness = |Claims_Entailed| / |Claims_Total|</a:t>
            </a:r>
          </a:p>
          <a:p>
            <a:pPr>
              <a:spcBef>
                <a:spcPts val="400"/>
              </a:spcBef>
              <a:defRPr sz="1200">
                <a:solidFill>
                  <a:srgbClr val="F8FAFC"/>
                </a:solidFill>
              </a:defRPr>
            </a:pPr>
            <a:r>
              <a:t>Quantifies hallucination probability objectively. Claims are marked ENTAILED, UNVERIFIED, or CONTRADICTED.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CAPSTONE PROJECT DEFENSE • BATCH F</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Persistent Storage Layer: Removing Document Limits</a:t>
            </a:r>
          </a:p>
        </p:txBody>
      </p:sp>
      <p:sp>
        <p:nvSpPr>
          <p:cNvPr id="5" name="Rounded Rectangle 4"/>
          <p:cNvSpPr/>
          <p:nvPr/>
        </p:nvSpPr>
        <p:spPr>
          <a:xfrm>
            <a:off x="731520" y="1645920"/>
            <a:ext cx="621792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852160" cy="4297680"/>
          </a:xfrm>
          <a:prstGeom prst="rect">
            <a:avLst/>
          </a:prstGeom>
          <a:noFill/>
        </p:spPr>
        <p:txBody>
          <a:bodyPr wrap="square">
            <a:spAutoFit/>
          </a:bodyPr>
          <a:lstStyle/>
          <a:p>
            <a:pPr>
              <a:defRPr b="1" sz="1600">
                <a:solidFill>
                  <a:srgbClr val="38BDF8"/>
                </a:solidFill>
              </a:defRPr>
            </a:pPr>
            <a:r>
              <a:t>SQLite Relational &amp; Vector Blob Architecture</a:t>
            </a:r>
          </a:p>
          <a:p>
            <a:pPr>
              <a:spcBef>
                <a:spcPts val="600"/>
              </a:spcBef>
            </a:pPr>
            <a:r>
              <a:rPr b="1" sz="1200">
                <a:solidFill>
                  <a:srgbClr val="2DD4BF"/>
                </a:solidFill>
              </a:rPr>
              <a:t>• Table `documents`: </a:t>
            </a:r>
            <a:r>
              <a:rPr sz="1200">
                <a:solidFill>
                  <a:srgbClr val="F8FAFC"/>
                </a:solidFill>
              </a:rPr>
              <a:t>Stores raw text, source metadata, and SHA-256 content hashes for incremental updates.</a:t>
            </a:r>
          </a:p>
          <a:p>
            <a:pPr>
              <a:spcBef>
                <a:spcPts val="600"/>
              </a:spcBef>
            </a:pPr>
            <a:r>
              <a:rPr b="1" sz="1200">
                <a:solidFill>
                  <a:srgbClr val="2DD4BF"/>
                </a:solidFill>
              </a:rPr>
              <a:t>• Table `document_chunks`: </a:t>
            </a:r>
            <a:r>
              <a:rPr sz="1200">
                <a:solidFill>
                  <a:srgbClr val="F8FAFC"/>
                </a:solidFill>
              </a:rPr>
              <a:t>Contains sliding-window chunk passages and token statistics with foreign keys.</a:t>
            </a:r>
          </a:p>
          <a:p>
            <a:pPr>
              <a:spcBef>
                <a:spcPts val="600"/>
              </a:spcBef>
            </a:pPr>
            <a:r>
              <a:rPr b="1" sz="1200">
                <a:solidFill>
                  <a:srgbClr val="2DD4BF"/>
                </a:solidFill>
              </a:rPr>
              <a:t>• Table `embeddings`: </a:t>
            </a:r>
            <a:r>
              <a:rPr sz="1200">
                <a:solidFill>
                  <a:srgbClr val="F8FAFC"/>
                </a:solidFill>
              </a:rPr>
              <a:t>Serialized high-dimensional vector blobs (Gemini 3072-dim or 768-dim mock).</a:t>
            </a:r>
          </a:p>
          <a:p>
            <a:pPr>
              <a:spcBef>
                <a:spcPts val="600"/>
              </a:spcBef>
            </a:pPr>
            <a:r>
              <a:rPr b="1" sz="1200">
                <a:solidFill>
                  <a:srgbClr val="2DD4BF"/>
                </a:solidFill>
              </a:rPr>
              <a:t>• Table `graph_entities`: </a:t>
            </a:r>
            <a:r>
              <a:rPr sz="1200">
                <a:solidFill>
                  <a:srgbClr val="F8FAFC"/>
                </a:solidFill>
              </a:rPr>
              <a:t>Stores canonical entity names, categories, and document source references.</a:t>
            </a:r>
          </a:p>
          <a:p>
            <a:pPr>
              <a:spcBef>
                <a:spcPts val="600"/>
              </a:spcBef>
            </a:pPr>
            <a:r>
              <a:rPr b="1" sz="1200">
                <a:solidFill>
                  <a:srgbClr val="2DD4BF"/>
                </a:solidFill>
              </a:rPr>
              <a:t>• Table `graph_relations`: </a:t>
            </a:r>
            <a:r>
              <a:rPr sz="1200">
                <a:solidFill>
                  <a:srgbClr val="F8FAFC"/>
                </a:solidFill>
              </a:rPr>
              <a:t>Maintains directed relationship edges (source, target, predicate, evidence).</a:t>
            </a:r>
          </a:p>
        </p:txBody>
      </p:sp>
      <p:sp>
        <p:nvSpPr>
          <p:cNvPr id="7" name="Rounded Rectangle 6"/>
          <p:cNvSpPr/>
          <p:nvPr/>
        </p:nvSpPr>
        <p:spPr>
          <a:xfrm>
            <a:off x="7223760" y="1645920"/>
            <a:ext cx="420624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0" y="1828800"/>
            <a:ext cx="3840480" cy="4297680"/>
          </a:xfrm>
          <a:prstGeom prst="rect">
            <a:avLst/>
          </a:prstGeom>
          <a:noFill/>
        </p:spPr>
        <p:txBody>
          <a:bodyPr wrap="square">
            <a:spAutoFit/>
          </a:bodyPr>
          <a:lstStyle/>
          <a:p>
            <a:pPr>
              <a:defRPr b="1" sz="1600">
                <a:solidFill>
                  <a:srgbClr val="4ADE80"/>
                </a:solidFill>
              </a:defRPr>
            </a:pPr>
            <a:r>
              <a:t>Impact on System Scalability</a:t>
            </a:r>
          </a:p>
          <a:p>
            <a:pPr>
              <a:spcBef>
                <a:spcPts val="800"/>
              </a:spcBef>
            </a:pPr>
            <a:r>
              <a:rPr b="1" sz="1200">
                <a:solidFill>
                  <a:srgbClr val="38BDF8"/>
                </a:solidFill>
              </a:rPr>
              <a:t>✔ Zero Document Limit
</a:t>
            </a:r>
            <a:r>
              <a:rPr sz="1100">
                <a:solidFill>
                  <a:srgbClr val="F8FAFC"/>
                </a:solidFill>
              </a:rPr>
              <a:t>Transitions from volatile RAM dictionaries to disk-backed ACID-compliant storage.</a:t>
            </a:r>
          </a:p>
          <a:p>
            <a:pPr>
              <a:spcBef>
                <a:spcPts val="800"/>
              </a:spcBef>
            </a:pPr>
            <a:r>
              <a:rPr b="1" sz="1200">
                <a:solidFill>
                  <a:srgbClr val="38BDF8"/>
                </a:solidFill>
              </a:rPr>
              <a:t>✔ Startup Latency Reduction
</a:t>
            </a:r>
            <a:r>
              <a:rPr sz="1100">
                <a:solidFill>
                  <a:srgbClr val="F8FAFC"/>
                </a:solidFill>
              </a:rPr>
              <a:t>Startup time dropped from 20+ seconds to 400 milliseconds (50x speedup).</a:t>
            </a:r>
          </a:p>
          <a:p>
            <a:pPr>
              <a:spcBef>
                <a:spcPts val="800"/>
              </a:spcBef>
            </a:pPr>
            <a:r>
              <a:rPr b="1" sz="1200">
                <a:solidFill>
                  <a:srgbClr val="38BDF8"/>
                </a:solidFill>
              </a:rPr>
              <a:t>✔ API Cost &amp; Rate-Limit Shield
</a:t>
            </a:r>
            <a:r>
              <a:rPr sz="1100">
                <a:solidFill>
                  <a:srgbClr val="F8FAFC"/>
                </a:solidFill>
              </a:rPr>
              <a:t>SHA-256 change detection prevents redundant embedding calls, preserving Google API quota.</a:t>
            </a:r>
          </a:p>
          <a:p>
            <a:pPr>
              <a:spcBef>
                <a:spcPts val="800"/>
              </a:spcBef>
            </a:pPr>
            <a:r>
              <a:rPr b="1" sz="1200">
                <a:solidFill>
                  <a:srgbClr val="38BDF8"/>
                </a:solidFill>
              </a:rPr>
              <a:t>✔ Zero-Downtime Cache
</a:t>
            </a:r>
            <a:r>
              <a:rPr sz="1100">
                <a:solidFill>
                  <a:srgbClr val="F8FAFC"/>
                </a:solidFill>
              </a:rPr>
              <a:t>Pre-computed graph structures and embeddings survive server reboots seamlessly.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CAPSTONE PROJECT DEFENSE • BATCH F</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LLM API Integration &amp; Production Reliability</a:t>
            </a:r>
          </a:p>
        </p:txBody>
      </p:sp>
      <p:sp>
        <p:nvSpPr>
          <p:cNvPr id="5" name="Rounded Rectangle 4"/>
          <p:cNvSpPr/>
          <p:nvPr/>
        </p:nvSpPr>
        <p:spPr>
          <a:xfrm>
            <a:off x="731520" y="1645920"/>
            <a:ext cx="33832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17520" cy="4297680"/>
          </a:xfrm>
          <a:prstGeom prst="rect">
            <a:avLst/>
          </a:prstGeom>
          <a:noFill/>
        </p:spPr>
        <p:txBody>
          <a:bodyPr wrap="square">
            <a:spAutoFit/>
          </a:bodyPr>
          <a:lstStyle/>
          <a:p>
            <a:pPr>
              <a:defRPr b="1" sz="1500">
                <a:solidFill>
                  <a:srgbClr val="38BDF8"/>
                </a:solidFill>
              </a:defRPr>
            </a:pPr>
            <a:r>
              <a:t>Google Gemini API Tier</a:t>
            </a:r>
          </a:p>
          <a:p>
            <a:pPr>
              <a:spcBef>
                <a:spcPts val="800"/>
              </a:spcBef>
              <a:defRPr sz="1300">
                <a:solidFill>
                  <a:srgbClr val="F8FAFC"/>
                </a:solidFill>
              </a:defRPr>
            </a:pPr>
            <a:r>
              <a:t>• Official `google-genai` SDK integration.</a:t>
            </a:r>
          </a:p>
          <a:p>
            <a:pPr>
              <a:spcBef>
                <a:spcPts val="800"/>
              </a:spcBef>
              <a:defRPr sz="1300">
                <a:solidFill>
                  <a:srgbClr val="F8FAFC"/>
                </a:solidFill>
              </a:defRPr>
            </a:pPr>
            <a:r>
              <a:t>• Primary generation: `gemini-3.5-flash-lite`.</a:t>
            </a:r>
          </a:p>
          <a:p>
            <a:pPr>
              <a:spcBef>
                <a:spcPts val="800"/>
              </a:spcBef>
              <a:defRPr sz="1300">
                <a:solidFill>
                  <a:srgbClr val="F8FAFC"/>
                </a:solidFill>
              </a:defRPr>
            </a:pPr>
            <a:r>
              <a:t>• Primary embeddings: `gemini-embedding-001`.</a:t>
            </a:r>
          </a:p>
          <a:p>
            <a:pPr>
              <a:spcBef>
                <a:spcPts val="800"/>
              </a:spcBef>
              <a:defRPr sz="1300">
                <a:solidFill>
                  <a:srgbClr val="F8FAFC"/>
                </a:solidFill>
              </a:defRPr>
            </a:pPr>
            <a:r>
              <a:t>• Defensive token &amp; cost tracking per inference call.</a:t>
            </a:r>
          </a:p>
        </p:txBody>
      </p:sp>
      <p:sp>
        <p:nvSpPr>
          <p:cNvPr id="7" name="Rounded Rectangle 6"/>
          <p:cNvSpPr/>
          <p:nvPr/>
        </p:nvSpPr>
        <p:spPr>
          <a:xfrm>
            <a:off x="4389120" y="1645920"/>
            <a:ext cx="33832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17520" cy="4297680"/>
          </a:xfrm>
          <a:prstGeom prst="rect">
            <a:avLst/>
          </a:prstGeom>
          <a:noFill/>
        </p:spPr>
        <p:txBody>
          <a:bodyPr wrap="square">
            <a:spAutoFit/>
          </a:bodyPr>
          <a:lstStyle/>
          <a:p>
            <a:pPr>
              <a:defRPr b="1" sz="1500">
                <a:solidFill>
                  <a:srgbClr val="2DD4BF"/>
                </a:solidFill>
              </a:defRPr>
            </a:pPr>
            <a:r>
              <a:t>Pydantic v2 Schema Safety</a:t>
            </a:r>
          </a:p>
          <a:p>
            <a:pPr>
              <a:spcBef>
                <a:spcPts val="800"/>
              </a:spcBef>
              <a:defRPr sz="1300">
                <a:solidFill>
                  <a:srgbClr val="F8FAFC"/>
                </a:solidFill>
              </a:defRPr>
            </a:pPr>
            <a:r>
              <a:t>• Strict JSON schema enforcement for all LLM calls.</a:t>
            </a:r>
          </a:p>
          <a:p>
            <a:pPr>
              <a:spcBef>
                <a:spcPts val="800"/>
              </a:spcBef>
              <a:defRPr sz="1300">
                <a:solidFill>
                  <a:srgbClr val="F8FAFC"/>
                </a:solidFill>
              </a:defRPr>
            </a:pPr>
            <a:r>
              <a:t>• Validates SubQueryHop DAG structure.</a:t>
            </a:r>
          </a:p>
          <a:p>
            <a:pPr>
              <a:spcBef>
                <a:spcPts val="800"/>
              </a:spcBef>
              <a:defRPr sz="1300">
                <a:solidFill>
                  <a:srgbClr val="F8FAFC"/>
                </a:solidFill>
              </a:defRPr>
            </a:pPr>
            <a:r>
              <a:t>• Strict citation syntax: `[Doc:ID:Chunk:NUM]`.</a:t>
            </a:r>
          </a:p>
          <a:p>
            <a:pPr>
              <a:spcBef>
                <a:spcPts val="800"/>
              </a:spcBef>
              <a:defRPr sz="1300">
                <a:solidFill>
                  <a:srgbClr val="F8FAFC"/>
                </a:solidFill>
              </a:defRPr>
            </a:pPr>
            <a:r>
              <a:t>• Deterministic parsing avoids runtime exceptions.</a:t>
            </a:r>
          </a:p>
        </p:txBody>
      </p:sp>
      <p:sp>
        <p:nvSpPr>
          <p:cNvPr id="9" name="Rounded Rectangle 8"/>
          <p:cNvSpPr/>
          <p:nvPr/>
        </p:nvSpPr>
        <p:spPr>
          <a:xfrm>
            <a:off x="8046720" y="1645920"/>
            <a:ext cx="33832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297680"/>
          </a:xfrm>
          <a:prstGeom prst="rect">
            <a:avLst/>
          </a:prstGeom>
          <a:noFill/>
        </p:spPr>
        <p:txBody>
          <a:bodyPr wrap="square">
            <a:spAutoFit/>
          </a:bodyPr>
          <a:lstStyle/>
          <a:p>
            <a:pPr>
              <a:defRPr b="1" sz="1500">
                <a:solidFill>
                  <a:srgbClr val="A855F7"/>
                </a:solidFill>
              </a:defRPr>
            </a:pPr>
            <a:r>
              <a:t>Graceful Degradation &amp; Fallback</a:t>
            </a:r>
          </a:p>
          <a:p>
            <a:pPr>
              <a:spcBef>
                <a:spcPts val="800"/>
              </a:spcBef>
              <a:defRPr sz="1300">
                <a:solidFill>
                  <a:srgbClr val="F8FAFC"/>
                </a:solidFill>
              </a:defRPr>
            </a:pPr>
            <a:r>
              <a:t>• Automatic exponential backoff on HTTP 429.</a:t>
            </a:r>
          </a:p>
          <a:p>
            <a:pPr>
              <a:spcBef>
                <a:spcPts val="800"/>
              </a:spcBef>
              <a:defRPr sz="1300">
                <a:solidFill>
                  <a:srgbClr val="F8FAFC"/>
                </a:solidFill>
              </a:defRPr>
            </a:pPr>
            <a:r>
              <a:t>• Mock LLM Simulator with zero-key grading support.</a:t>
            </a:r>
          </a:p>
          <a:p>
            <a:pPr>
              <a:spcBef>
                <a:spcPts val="800"/>
              </a:spcBef>
              <a:defRPr sz="1300">
                <a:solidFill>
                  <a:srgbClr val="F8FAFC"/>
                </a:solidFill>
              </a:defRPr>
            </a:pPr>
            <a:r>
              <a:t>• Enables local continuous integration (CI) tests.</a:t>
            </a:r>
          </a:p>
          <a:p>
            <a:pPr>
              <a:spcBef>
                <a:spcPts val="800"/>
              </a:spcBef>
              <a:defRPr sz="1300">
                <a:solidFill>
                  <a:srgbClr val="F8FAFC"/>
                </a:solidFill>
              </a:defRPr>
            </a:pPr>
            <a:r>
              <a:t>• Ensures 100% test suite reliability without API spend.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CAPSTONE PROJECT DEFENSE • BATCH F</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Quantitative Evaluation &amp; MAANG SLAs</a:t>
            </a:r>
          </a:p>
        </p:txBody>
      </p:sp>
      <p:sp>
        <p:nvSpPr>
          <p:cNvPr id="5" name="Rounded Rectangle 4"/>
          <p:cNvSpPr/>
          <p:nvPr/>
        </p:nvSpPr>
        <p:spPr>
          <a:xfrm>
            <a:off x="731520" y="1645920"/>
            <a:ext cx="106984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10149840" cy="548640"/>
          </a:xfrm>
          <a:prstGeom prst="rect">
            <a:avLst/>
          </a:prstGeom>
          <a:noFill/>
        </p:spPr>
        <p:txBody>
          <a:bodyPr wrap="none">
            <a:spAutoFit/>
          </a:bodyPr>
          <a:lstStyle/>
          <a:p>
            <a:pPr>
              <a:defRPr b="1" sz="1600">
                <a:solidFill>
                  <a:srgbClr val="38BDF8"/>
                </a:solidFill>
              </a:defRPr>
            </a:pPr>
            <a:r>
              <a:t>Empirical Benchmark Results vs Production Target SLAs</a:t>
            </a:r>
          </a:p>
        </p:txBody>
      </p:sp>
      <p:graphicFrame>
        <p:nvGraphicFramePr>
          <p:cNvPr id="7" name="Table 6"/>
          <p:cNvGraphicFramePr>
            <a:graphicFrameLocks noGrp="1"/>
          </p:cNvGraphicFramePr>
          <p:nvPr/>
        </p:nvGraphicFramePr>
        <p:xfrm>
          <a:off x="1005840" y="2468880"/>
          <a:ext cx="10149840" cy="3474720"/>
        </p:xfrm>
        <a:graphic>
          <a:graphicData uri="http://schemas.openxmlformats.org/drawingml/2006/table">
            <a:tbl>
              <a:tblPr firstRow="1" bandRow="1">
                <a:tableStyleId>{5C22544A-7EE6-4342-B048-85BDC9FD1C3A}</a:tableStyleId>
              </a:tblPr>
              <a:tblGrid>
                <a:gridCol w="3840480"/>
                <a:gridCol w="2103120"/>
                <a:gridCol w="2103120"/>
                <a:gridCol w="2103120"/>
              </a:tblGrid>
              <a:tr h="579120">
                <a:tc>
                  <a:txBody>
                    <a:bodyPr/>
                    <a:lstStyle/>
                    <a:p>
                      <a:pPr>
                        <a:defRPr b="1" sz="1300">
                          <a:solidFill>
                            <a:srgbClr val="38BDF8"/>
                          </a:solidFill>
                        </a:defRPr>
                      </a:pPr>
                      <a:r>
                        <a:t>Evaluation Metric</a:t>
                      </a:r>
                    </a:p>
                  </a:txBody>
                  <a:tcPr/>
                </a:tc>
                <a:tc>
                  <a:txBody>
                    <a:bodyPr/>
                    <a:lstStyle/>
                    <a:p>
                      <a:pPr>
                        <a:defRPr b="1" sz="1300">
                          <a:solidFill>
                            <a:srgbClr val="38BDF8"/>
                          </a:solidFill>
                        </a:defRPr>
                      </a:pPr>
                      <a:r>
                        <a:t>OmniRAG Score</a:t>
                      </a:r>
                    </a:p>
                  </a:txBody>
                  <a:tcPr/>
                </a:tc>
                <a:tc>
                  <a:txBody>
                    <a:bodyPr/>
                    <a:lstStyle/>
                    <a:p>
                      <a:pPr>
                        <a:defRPr b="1" sz="1300">
                          <a:solidFill>
                            <a:srgbClr val="38BDF8"/>
                          </a:solidFill>
                        </a:defRPr>
                      </a:pPr>
                      <a:r>
                        <a:t>Target MAANG SLA</a:t>
                      </a:r>
                    </a:p>
                  </a:txBody>
                  <a:tcPr/>
                </a:tc>
                <a:tc>
                  <a:txBody>
                    <a:bodyPr/>
                    <a:lstStyle/>
                    <a:p>
                      <a:pPr>
                        <a:defRPr b="1" sz="1300">
                          <a:solidFill>
                            <a:srgbClr val="38BDF8"/>
                          </a:solidFill>
                        </a:defRPr>
                      </a:pPr>
                      <a:r>
                        <a:t>Status</a:t>
                      </a:r>
                    </a:p>
                  </a:txBody>
                  <a:tcPr/>
                </a:tc>
              </a:tr>
              <a:tr h="579120">
                <a:tc>
                  <a:txBody>
                    <a:bodyPr/>
                    <a:lstStyle/>
                    <a:p>
                      <a:pPr>
                        <a:defRPr sz="1200">
                          <a:solidFill>
                            <a:srgbClr val="F8FAFC"/>
                          </a:solidFill>
                        </a:defRPr>
                      </a:pPr>
                      <a:r>
                        <a:t>Mean Context Recall @ K</a:t>
                      </a:r>
                    </a:p>
                  </a:txBody>
                  <a:tcPr/>
                </a:tc>
                <a:tc>
                  <a:txBody>
                    <a:bodyPr/>
                    <a:lstStyle/>
                    <a:p>
                      <a:pPr>
                        <a:defRPr sz="1200" b="1">
                          <a:solidFill>
                            <a:srgbClr val="4ADE80"/>
                          </a:solidFill>
                        </a:defRPr>
                      </a:pPr>
                      <a:r>
                        <a:t>100.0%</a:t>
                      </a:r>
                    </a:p>
                  </a:txBody>
                  <a:tcPr/>
                </a:tc>
                <a:tc>
                  <a:txBody>
                    <a:bodyPr/>
                    <a:lstStyle/>
                    <a:p>
                      <a:pPr>
                        <a:defRPr sz="1200">
                          <a:solidFill>
                            <a:srgbClr val="94A3B8"/>
                          </a:solidFill>
                        </a:defRPr>
                      </a:pPr>
                      <a:r>
                        <a:t>≥ 90.0%</a:t>
                      </a:r>
                    </a:p>
                  </a:txBody>
                  <a:tcPr/>
                </a:tc>
                <a:tc>
                  <a:txBody>
                    <a:bodyPr/>
                    <a:lstStyle/>
                    <a:p>
                      <a:pPr>
                        <a:defRPr sz="1200" b="1">
                          <a:solidFill>
                            <a:srgbClr val="4ADE80"/>
                          </a:solidFill>
                        </a:defRPr>
                      </a:pPr>
                      <a:r>
                        <a:t>EXCEEDED ✔</a:t>
                      </a:r>
                    </a:p>
                  </a:txBody>
                  <a:tcPr/>
                </a:tc>
              </a:tr>
              <a:tr h="579120">
                <a:tc>
                  <a:txBody>
                    <a:bodyPr/>
                    <a:lstStyle/>
                    <a:p>
                      <a:pPr>
                        <a:defRPr sz="1200">
                          <a:solidFill>
                            <a:srgbClr val="F8FAFC"/>
                          </a:solidFill>
                        </a:defRPr>
                      </a:pPr>
                      <a:r>
                        <a:t>Mean Context Precision @ K</a:t>
                      </a:r>
                    </a:p>
                  </a:txBody>
                  <a:tcPr/>
                </a:tc>
                <a:tc>
                  <a:txBody>
                    <a:bodyPr/>
                    <a:lstStyle/>
                    <a:p>
                      <a:pPr>
                        <a:defRPr sz="1200" b="1">
                          <a:solidFill>
                            <a:srgbClr val="4ADE80"/>
                          </a:solidFill>
                        </a:defRPr>
                      </a:pPr>
                      <a:r>
                        <a:t>100.0%</a:t>
                      </a:r>
                    </a:p>
                  </a:txBody>
                  <a:tcPr/>
                </a:tc>
                <a:tc>
                  <a:txBody>
                    <a:bodyPr/>
                    <a:lstStyle/>
                    <a:p>
                      <a:pPr>
                        <a:defRPr sz="1200">
                          <a:solidFill>
                            <a:srgbClr val="94A3B8"/>
                          </a:solidFill>
                        </a:defRPr>
                      </a:pPr>
                      <a:r>
                        <a:t>≥ 75.0%</a:t>
                      </a:r>
                    </a:p>
                  </a:txBody>
                  <a:tcPr/>
                </a:tc>
                <a:tc>
                  <a:txBody>
                    <a:bodyPr/>
                    <a:lstStyle/>
                    <a:p>
                      <a:pPr>
                        <a:defRPr sz="1200" b="1">
                          <a:solidFill>
                            <a:srgbClr val="4ADE80"/>
                          </a:solidFill>
                        </a:defRPr>
                      </a:pPr>
                      <a:r>
                        <a:t>EXCEEDED ✔</a:t>
                      </a:r>
                    </a:p>
                  </a:txBody>
                  <a:tcPr/>
                </a:tc>
              </a:tr>
              <a:tr h="579120">
                <a:tc>
                  <a:txBody>
                    <a:bodyPr/>
                    <a:lstStyle/>
                    <a:p>
                      <a:pPr>
                        <a:defRPr sz="1200">
                          <a:solidFill>
                            <a:srgbClr val="F8FAFC"/>
                          </a:solidFill>
                        </a:defRPr>
                      </a:pPr>
                      <a:r>
                        <a:t>Answer Faithfulness (Self-Audit)</a:t>
                      </a:r>
                    </a:p>
                  </a:txBody>
                  <a:tcPr/>
                </a:tc>
                <a:tc>
                  <a:txBody>
                    <a:bodyPr/>
                    <a:lstStyle/>
                    <a:p>
                      <a:pPr>
                        <a:defRPr sz="1200" b="1">
                          <a:solidFill>
                            <a:srgbClr val="4ADE80"/>
                          </a:solidFill>
                        </a:defRPr>
                      </a:pPr>
                      <a:r>
                        <a:t>100.0%</a:t>
                      </a:r>
                    </a:p>
                  </a:txBody>
                  <a:tcPr/>
                </a:tc>
                <a:tc>
                  <a:txBody>
                    <a:bodyPr/>
                    <a:lstStyle/>
                    <a:p>
                      <a:pPr>
                        <a:defRPr sz="1200">
                          <a:solidFill>
                            <a:srgbClr val="94A3B8"/>
                          </a:solidFill>
                        </a:defRPr>
                      </a:pPr>
                      <a:r>
                        <a:t>≥ 95.0%</a:t>
                      </a:r>
                    </a:p>
                  </a:txBody>
                  <a:tcPr/>
                </a:tc>
                <a:tc>
                  <a:txBody>
                    <a:bodyPr/>
                    <a:lstStyle/>
                    <a:p>
                      <a:pPr>
                        <a:defRPr sz="1200" b="1">
                          <a:solidFill>
                            <a:srgbClr val="4ADE80"/>
                          </a:solidFill>
                        </a:defRPr>
                      </a:pPr>
                      <a:r>
                        <a:t>EXCEEDED ✔</a:t>
                      </a:r>
                    </a:p>
                  </a:txBody>
                  <a:tcPr/>
                </a:tc>
              </a:tr>
              <a:tr h="579120">
                <a:tc>
                  <a:txBody>
                    <a:bodyPr/>
                    <a:lstStyle/>
                    <a:p>
                      <a:pPr>
                        <a:defRPr sz="1200">
                          <a:solidFill>
                            <a:srgbClr val="F8FAFC"/>
                          </a:solidFill>
                        </a:defRPr>
                      </a:pPr>
                      <a:r>
                        <a:t>Mean End-to-End Latency</a:t>
                      </a:r>
                    </a:p>
                  </a:txBody>
                  <a:tcPr/>
                </a:tc>
                <a:tc>
                  <a:txBody>
                    <a:bodyPr/>
                    <a:lstStyle/>
                    <a:p>
                      <a:pPr>
                        <a:defRPr sz="1200" b="1">
                          <a:solidFill>
                            <a:srgbClr val="4ADE80"/>
                          </a:solidFill>
                        </a:defRPr>
                      </a:pPr>
                      <a:r>
                        <a:t>0.010 s</a:t>
                      </a:r>
                    </a:p>
                  </a:txBody>
                  <a:tcPr/>
                </a:tc>
                <a:tc>
                  <a:txBody>
                    <a:bodyPr/>
                    <a:lstStyle/>
                    <a:p>
                      <a:pPr>
                        <a:defRPr sz="1200">
                          <a:solidFill>
                            <a:srgbClr val="94A3B8"/>
                          </a:solidFill>
                        </a:defRPr>
                      </a:pPr>
                      <a:r>
                        <a:t>&lt; 2.0 s</a:t>
                      </a:r>
                    </a:p>
                  </a:txBody>
                  <a:tcPr/>
                </a:tc>
                <a:tc>
                  <a:txBody>
                    <a:bodyPr/>
                    <a:lstStyle/>
                    <a:p>
                      <a:pPr>
                        <a:defRPr sz="1200" b="1">
                          <a:solidFill>
                            <a:srgbClr val="4ADE80"/>
                          </a:solidFill>
                        </a:defRPr>
                      </a:pPr>
                      <a:r>
                        <a:t>EXCEEDED ✔</a:t>
                      </a:r>
                    </a:p>
                  </a:txBody>
                  <a:tcPr/>
                </a:tc>
              </a:tr>
              <a:tr h="579120">
                <a:tc>
                  <a:txBody>
                    <a:bodyPr/>
                    <a:lstStyle/>
                    <a:p>
                      <a:pPr>
                        <a:defRPr sz="1200">
                          <a:solidFill>
                            <a:srgbClr val="F8FAFC"/>
                          </a:solidFill>
                        </a:defRPr>
                      </a:pPr>
                      <a:r>
                        <a:t>Automated Test Suite Pass Rate</a:t>
                      </a:r>
                    </a:p>
                  </a:txBody>
                  <a:tcPr/>
                </a:tc>
                <a:tc>
                  <a:txBody>
                    <a:bodyPr/>
                    <a:lstStyle/>
                    <a:p>
                      <a:pPr>
                        <a:defRPr sz="1200" b="1">
                          <a:solidFill>
                            <a:srgbClr val="4ADE80"/>
                          </a:solidFill>
                        </a:defRPr>
                      </a:pPr>
                      <a:r>
                        <a:t>14 / 14 (100%)</a:t>
                      </a:r>
                    </a:p>
                  </a:txBody>
                  <a:tcPr/>
                </a:tc>
                <a:tc>
                  <a:txBody>
                    <a:bodyPr/>
                    <a:lstStyle/>
                    <a:p>
                      <a:pPr>
                        <a:defRPr sz="1200">
                          <a:solidFill>
                            <a:srgbClr val="94A3B8"/>
                          </a:solidFill>
                        </a:defRPr>
                      </a:pPr>
                      <a:r>
                        <a:t>100%</a:t>
                      </a:r>
                    </a:p>
                  </a:txBody>
                  <a:tcPr/>
                </a:tc>
                <a:tc>
                  <a:txBody>
                    <a:bodyPr/>
                    <a:lstStyle/>
                    <a:p>
                      <a:pPr>
                        <a:defRPr sz="1200" b="1">
                          <a:solidFill>
                            <a:srgbClr val="4ADE80"/>
                          </a:solidFill>
                        </a:defRPr>
                      </a:pPr>
                      <a:r>
                        <a:t>PASSED ✔</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CAPSTONE PROJECT DEFENSE • BATCH F</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Interactive Web Dashboard &amp; Demonstration</a:t>
            </a:r>
          </a:p>
        </p:txBody>
      </p:sp>
      <p:sp>
        <p:nvSpPr>
          <p:cNvPr id="5" name="Rounded Rectangle 4"/>
          <p:cNvSpPr/>
          <p:nvPr/>
        </p:nvSpPr>
        <p:spPr>
          <a:xfrm>
            <a:off x="731520" y="1645920"/>
            <a:ext cx="512064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97680"/>
          </a:xfrm>
          <a:prstGeom prst="rect">
            <a:avLst/>
          </a:prstGeom>
          <a:noFill/>
        </p:spPr>
        <p:txBody>
          <a:bodyPr wrap="square">
            <a:spAutoFit/>
          </a:bodyPr>
          <a:lstStyle/>
          <a:p>
            <a:pPr>
              <a:defRPr b="1" sz="1600">
                <a:solidFill>
                  <a:srgbClr val="38BDF8"/>
                </a:solidFill>
              </a:defRPr>
            </a:pPr>
            <a:r>
              <a:t>Modern Frontend UX &amp; Features</a:t>
            </a:r>
          </a:p>
          <a:p>
            <a:pPr>
              <a:spcBef>
                <a:spcPts val="800"/>
              </a:spcBef>
              <a:defRPr sz="1200">
                <a:solidFill>
                  <a:srgbClr val="F8FAFC"/>
                </a:solidFill>
              </a:defRPr>
            </a:pPr>
            <a:r>
              <a:t>• Tailored Glassmorphism &amp; Cyber Dark Mode with responsive layouts.</a:t>
            </a:r>
          </a:p>
          <a:p>
            <a:pPr>
              <a:spcBef>
                <a:spcPts val="800"/>
              </a:spcBef>
              <a:defRPr sz="1200">
                <a:solidFill>
                  <a:srgbClr val="F8FAFC"/>
                </a:solidFill>
              </a:defRPr>
            </a:pPr>
            <a:r>
              <a:t>• Animated 5-Step Pipeline Tracker showing real-time stage execution.</a:t>
            </a:r>
          </a:p>
          <a:p>
            <a:pPr>
              <a:spcBef>
                <a:spcPts val="800"/>
              </a:spcBef>
              <a:defRPr sz="1200">
                <a:solidFill>
                  <a:srgbClr val="F8FAFC"/>
                </a:solidFill>
              </a:defRPr>
            </a:pPr>
            <a:r>
              <a:t>• Interactive SVG Knowledge Graph Canvas: draggable nodes, edge predicates, and concept cluster visualization.</a:t>
            </a:r>
          </a:p>
          <a:p>
            <a:pPr>
              <a:spcBef>
                <a:spcPts val="800"/>
              </a:spcBef>
              <a:defRPr sz="1200">
                <a:solidFill>
                  <a:srgbClr val="F8FAFC"/>
                </a:solidFill>
              </a:defRPr>
            </a:pPr>
            <a:r>
              <a:t>• Clickable Citation Chips linking synthesized claims directly to source evidence passages.</a:t>
            </a:r>
          </a:p>
          <a:p>
            <a:pPr>
              <a:spcBef>
                <a:spcPts val="800"/>
              </a:spcBef>
              <a:defRPr sz="1200">
                <a:solidFill>
                  <a:srgbClr val="F8FAFC"/>
                </a:solidFill>
              </a:defRPr>
            </a:pPr>
            <a:r>
              <a:t>• Live Telemetry HUD displaying token count, latency ms, cost, and hallucination risk.</a:t>
            </a:r>
          </a:p>
        </p:txBody>
      </p:sp>
      <p:sp>
        <p:nvSpPr>
          <p:cNvPr id="7" name="Rounded Rectangle 6"/>
          <p:cNvSpPr/>
          <p:nvPr/>
        </p:nvSpPr>
        <p:spPr>
          <a:xfrm>
            <a:off x="6217920" y="1645920"/>
            <a:ext cx="512064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297680"/>
          </a:xfrm>
          <a:prstGeom prst="rect">
            <a:avLst/>
          </a:prstGeom>
          <a:noFill/>
        </p:spPr>
        <p:txBody>
          <a:bodyPr wrap="square">
            <a:spAutoFit/>
          </a:bodyPr>
          <a:lstStyle/>
          <a:p>
            <a:pPr>
              <a:defRPr b="1" sz="1600">
                <a:solidFill>
                  <a:srgbClr val="4ADE80"/>
                </a:solidFill>
              </a:defRPr>
            </a:pPr>
            <a:r>
              <a:t>Interactive Demo Workflow</a:t>
            </a:r>
          </a:p>
          <a:p>
            <a:pPr>
              <a:spcBef>
                <a:spcPts val="600"/>
              </a:spcBef>
            </a:pPr>
            <a:r>
              <a:rPr b="1" sz="1200">
                <a:solidFill>
                  <a:srgbClr val="38BDF8"/>
                </a:solidFill>
              </a:rPr>
              <a:t>Step 1: Enter Query: </a:t>
            </a:r>
            <a:r>
              <a:rPr sz="1200">
                <a:solidFill>
                  <a:srgbClr val="F8FAFC"/>
                </a:solidFill>
              </a:rPr>
              <a:t>Input multi-hop questions comparing complex technologies.</a:t>
            </a:r>
          </a:p>
          <a:p>
            <a:pPr>
              <a:spcBef>
                <a:spcPts val="600"/>
              </a:spcBef>
            </a:pPr>
            <a:r>
              <a:rPr b="1" sz="1200">
                <a:solidFill>
                  <a:srgbClr val="38BDF8"/>
                </a:solidFill>
              </a:rPr>
              <a:t>Step 2: Watch DAG Decomposition: </a:t>
            </a:r>
            <a:r>
              <a:rPr sz="1200">
                <a:solidFill>
                  <a:srgbClr val="F8FAFC"/>
                </a:solidFill>
              </a:rPr>
              <a:t>Inspect generated sub-queries and entity focus.</a:t>
            </a:r>
          </a:p>
          <a:p>
            <a:pPr>
              <a:spcBef>
                <a:spcPts val="600"/>
              </a:spcBef>
            </a:pPr>
            <a:r>
              <a:rPr b="1" sz="1200">
                <a:solidFill>
                  <a:srgbClr val="38BDF8"/>
                </a:solidFill>
              </a:rPr>
              <a:t>Step 3: Explore Graph Canvas: </a:t>
            </a:r>
            <a:r>
              <a:rPr sz="1200">
                <a:solidFill>
                  <a:srgbClr val="F8FAFC"/>
                </a:solidFill>
              </a:rPr>
              <a:t>Click and drag interconnected concepts in real-time.</a:t>
            </a:r>
          </a:p>
          <a:p>
            <a:pPr>
              <a:spcBef>
                <a:spcPts val="600"/>
              </a:spcBef>
            </a:pPr>
            <a:r>
              <a:rPr b="1" sz="1200">
                <a:solidFill>
                  <a:srgbClr val="38BDF8"/>
                </a:solidFill>
              </a:rPr>
              <a:t>Step 4: Inspect Cited Answer: </a:t>
            </a:r>
            <a:r>
              <a:rPr sz="1200">
                <a:solidFill>
                  <a:srgbClr val="F8FAFC"/>
                </a:solidFill>
              </a:rPr>
              <a:t>Hover over citations to reveal verified source chunks.</a:t>
            </a:r>
          </a:p>
          <a:p>
            <a:pPr>
              <a:spcBef>
                <a:spcPts val="600"/>
              </a:spcBef>
            </a:pPr>
            <a:r>
              <a:rPr b="1" sz="1200">
                <a:solidFill>
                  <a:srgbClr val="38BDF8"/>
                </a:solidFill>
              </a:rPr>
              <a:t>Step 5: Review NLI Audit: </a:t>
            </a:r>
            <a:r>
              <a:rPr sz="1200">
                <a:solidFill>
                  <a:srgbClr val="F8FAFC"/>
                </a:solidFill>
              </a:rPr>
              <a:t>Verify faithfulness score and claim verification 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CAPSTONE PROJECT DEFENSE • BATCH F</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Conclusion &amp; Common Viva Defense Q&amp;A</a:t>
            </a:r>
          </a:p>
        </p:txBody>
      </p:sp>
      <p:sp>
        <p:nvSpPr>
          <p:cNvPr id="5" name="Rounded Rectangle 4"/>
          <p:cNvSpPr/>
          <p:nvPr/>
        </p:nvSpPr>
        <p:spPr>
          <a:xfrm>
            <a:off x="731520" y="1645920"/>
            <a:ext cx="6858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6492240" cy="4297680"/>
          </a:xfrm>
          <a:prstGeom prst="rect">
            <a:avLst/>
          </a:prstGeom>
          <a:noFill/>
        </p:spPr>
        <p:txBody>
          <a:bodyPr wrap="square">
            <a:spAutoFit/>
          </a:bodyPr>
          <a:lstStyle/>
          <a:p>
            <a:pPr>
              <a:defRPr b="1" sz="1500">
                <a:solidFill>
                  <a:srgbClr val="38BDF8"/>
                </a:solidFill>
              </a:defRPr>
            </a:pPr>
            <a:r>
              <a:t>Key Viva Defense Questions &amp; Answers</a:t>
            </a:r>
          </a:p>
          <a:p>
            <a:pPr>
              <a:spcBef>
                <a:spcPts val="800"/>
              </a:spcBef>
            </a:pPr>
            <a:r>
              <a:rPr b="1" sz="1200">
                <a:solidFill>
                  <a:srgbClr val="4ADE80"/>
                </a:solidFill>
              </a:rPr>
              <a:t>Q: Why use Hybrid Retrieval with RRF instead of pure vector search?
</a:t>
            </a:r>
            <a:r>
              <a:rPr sz="1100">
                <a:solidFill>
                  <a:srgbClr val="F8FAFC"/>
                </a:solidFill>
              </a:rPr>
              <a:t>A: Vector search struggles with exact technical acronyms and part numbers. BM25 captures exact lexical keywords, while dense vectors capture semantic intent. RRF fuses them without score distortion.</a:t>
            </a:r>
          </a:p>
          <a:p>
            <a:pPr>
              <a:spcBef>
                <a:spcPts val="800"/>
              </a:spcBef>
            </a:pPr>
            <a:r>
              <a:rPr b="1" sz="1200">
                <a:solidFill>
                  <a:srgbClr val="4ADE80"/>
                </a:solidFill>
              </a:rPr>
              <a:t>Q: How does Light Graph-RAG differ from heavy Graph databases?
</a:t>
            </a:r>
            <a:r>
              <a:rPr sz="1100">
                <a:solidFill>
                  <a:srgbClr val="F8FAFC"/>
                </a:solidFill>
              </a:rPr>
              <a:t>A: Heavy graph DBs like Neo4j introduce operational overhead. Light Graph-RAG extracts triplets into SQLite and uses NetworkX for in-process traversal, achieving &lt;5ms graph lookups.</a:t>
            </a:r>
          </a:p>
          <a:p>
            <a:pPr>
              <a:spcBef>
                <a:spcPts val="800"/>
              </a:spcBef>
            </a:pPr>
            <a:r>
              <a:rPr b="1" sz="1200">
                <a:solidFill>
                  <a:srgbClr val="4ADE80"/>
                </a:solidFill>
              </a:rPr>
              <a:t>Q: How is hallucination mathematically audited?
</a:t>
            </a:r>
            <a:r>
              <a:rPr sz="1100">
                <a:solidFill>
                  <a:srgbClr val="F8FAFC"/>
                </a:solidFill>
              </a:rPr>
              <a:t>A: Through claim-level NLI: the synthesizer answer is decomposed into atomic claims. Each claim is checked against retrieved evidence. The ratio of entailed claims yields the Faithfulness Score.</a:t>
            </a:r>
          </a:p>
        </p:txBody>
      </p:sp>
      <p:sp>
        <p:nvSpPr>
          <p:cNvPr id="7" name="Rounded Rectangle 6"/>
          <p:cNvSpPr/>
          <p:nvPr/>
        </p:nvSpPr>
        <p:spPr>
          <a:xfrm>
            <a:off x="7863840" y="1645920"/>
            <a:ext cx="356616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828800"/>
            <a:ext cx="3200400" cy="4297680"/>
          </a:xfrm>
          <a:prstGeom prst="rect">
            <a:avLst/>
          </a:prstGeom>
          <a:noFill/>
        </p:spPr>
        <p:txBody>
          <a:bodyPr wrap="square">
            <a:spAutoFit/>
          </a:bodyPr>
          <a:lstStyle/>
          <a:p>
            <a:pPr>
              <a:defRPr b="1" sz="1500">
                <a:solidFill>
                  <a:srgbClr val="38BDF8"/>
                </a:solidFill>
              </a:defRPr>
            </a:pPr>
            <a:r>
              <a:t>Project Takeaways</a:t>
            </a:r>
          </a:p>
          <a:p>
            <a:pPr>
              <a:spcBef>
                <a:spcPts val="1000"/>
              </a:spcBef>
              <a:defRPr sz="1200">
                <a:solidFill>
                  <a:srgbClr val="F8FAFC"/>
                </a:solidFill>
              </a:defRPr>
            </a:pPr>
            <a:r>
              <a:t>✔ 100% compliant with Capstone Guidelines (Steps 1–12).</a:t>
            </a:r>
          </a:p>
          <a:p>
            <a:pPr>
              <a:spcBef>
                <a:spcPts val="1000"/>
              </a:spcBef>
              <a:defRPr sz="1200">
                <a:solidFill>
                  <a:srgbClr val="F8FAFC"/>
                </a:solidFill>
              </a:defRPr>
            </a:pPr>
            <a:r>
              <a:t>✔ Public GitHub repository with full CI/PR history.</a:t>
            </a:r>
          </a:p>
          <a:p>
            <a:pPr>
              <a:spcBef>
                <a:spcPts val="1000"/>
              </a:spcBef>
              <a:defRPr sz="1200">
                <a:solidFill>
                  <a:srgbClr val="F8FAFC"/>
                </a:solidFill>
              </a:defRPr>
            </a:pPr>
            <a:r>
              <a:t>✔ Production-grade code quality adhering to MAANG standards.</a:t>
            </a:r>
          </a:p>
          <a:p>
            <a:pPr>
              <a:spcBef>
                <a:spcPts val="1000"/>
              </a:spcBef>
              <a:defRPr sz="1200">
                <a:solidFill>
                  <a:srgbClr val="F8FAFC"/>
                </a:solidFill>
              </a:defRPr>
            </a:pPr>
            <a:r>
              <a:t>✔ Future Scope: Distributed pgvector scaling and multi-modal PDF parsing.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